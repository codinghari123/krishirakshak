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66868"/>
            <a:ext cx="6217920" cy="14779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74519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FF0000"/>
                </a:solidFill>
                <a:latin typeface="Calibri"/>
              </a:rPr>
              <a:t>Course: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FF0000"/>
                </a:solidFill>
                <a:latin typeface="Calibri"/>
              </a:rPr>
              <a:t>Subject code : 24BTDS145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0">
                <a:solidFill>
                  <a:srgbClr val="1D2721"/>
                </a:solidFill>
                <a:latin typeface="Calibri"/>
              </a:rPr>
              <a:t>KrishiRakshak: AI-Based Early Detection and</a:t>
            </a:r>
          </a:p>
          <a:p>
            <a:pPr algn="ctr"/>
            <a:r>
              <a:rPr sz="2600" b="0">
                <a:solidFill>
                  <a:srgbClr val="1D2721"/>
                </a:solidFill>
                <a:latin typeface="Calibri"/>
              </a:rPr>
              <a:t>Management of Crop Diseases &amp; Pest Infestations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94560" y="406908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Member PRN No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24BTDSXXX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[Member name]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24BTDSXXX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[Member name]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24BTDSXXX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[Member name]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24BTDSXXX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[Member name]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5A32"/>
                </a:solidFill>
                <a:latin typeface="Calibri"/>
              </a:rPr>
              <a:t>Context and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D2721"/>
                </a:solidFill>
                <a:latin typeface="Calibri"/>
              </a:rPr>
              <a:t>•  Plant pests and diseases destroy up to 40% of global crop production every year (FAO).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721"/>
                </a:solidFill>
                <a:latin typeface="Calibri"/>
              </a:rPr>
              <a:t>•  Farmers usually notice a disease only after visible damage has spread across the field.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721"/>
                </a:solidFill>
                <a:latin typeface="Calibri"/>
              </a:rPr>
              <a:t>•  Extension officers cover very large areas; lab diagnosis and expert advice are slow to reach villages.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721"/>
                </a:solidFill>
                <a:latin typeface="Calibri"/>
              </a:rPr>
              <a:t>•  Weather, crop stage, variety, soil and local pest history drive outbreaks — but are rarely combined into farm-level alerts.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721"/>
                </a:solidFill>
                <a:latin typeface="Calibri"/>
              </a:rPr>
              <a:t>•  Wrong or late diagnosis leads to excess pesticide use, higher cost, residues and yield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3736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81051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5A32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95728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5D6B63"/>
                </a:solidFill>
                <a:latin typeface="Calibri"/>
              </a:rPr>
              <a:t>of crop production lost to pests &amp; diseases (FAO)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20040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327355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5A32"/>
                </a:solidFill>
                <a:latin typeface="Calibri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858768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5D6B63"/>
                </a:solidFill>
                <a:latin typeface="Calibri"/>
              </a:rPr>
              <a:t>crop disease &amp; health classes recognised by our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66344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73659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45A32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321808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5D6B63"/>
                </a:solidFill>
                <a:latin typeface="Calibri"/>
              </a:rPr>
              <a:t>languages: English, हिन्दी, తెలుగు, தமிழ், ಕನ್ನಡ, मराठी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5A32"/>
                </a:solidFill>
                <a:latin typeface="Calibri"/>
              </a:rPr>
              <a:t>Early detection and management of crop diseases and pest infestations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D6B63"/>
                </a:solidFill>
                <a:latin typeface="Calibri"/>
              </a:rPr>
              <a:t>Why is this project necessary?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Late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Symptoms are recognised only after the damage spreads.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4028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33172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Limited expert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Few extension staff and labs for many farmers.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5760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Scattered risk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4164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Weather, crop stage, soil and pest history are not combined.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56616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65760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Wrong treatment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4164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Misdiagnosis → excess or wrong pesticide, cost, residues.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No surveillance picture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6752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Officials lack real-time outbreak maps and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89204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98348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Language barrier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536752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Advice is rarely available in the farmer's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Objectives and Key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9903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1.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Identify diseases from a leaf photo with a CNN model (&gt;95% target accuracy).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39903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2.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78308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7-day weather-based disease &amp; pest risk for each farm.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39903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3.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78308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Pest-trap counts and IoT sensors with economic-threshold (ETL)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04495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4.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42900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Automatic geospatial hotspot detection and alerts to nearby farms.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304495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5.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342900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Expert confirmation / correction of every AI diagnosis; lab referral.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304495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6. Advise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42900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Integrated Pest Management (IPM) advice with safe pesticide use, in 6 languages with audio.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1772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69087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7. Follow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07492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3/7-day follow-up checks; escalate cases that are not improving.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61772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469087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8. 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507492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Retrain the model from field-confirmed images (continual learning).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61772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469087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5A32"/>
                </a:solidFill>
                <a:latin typeface="Calibri"/>
              </a:rPr>
              <a:t>9. Inform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074920"/>
            <a:ext cx="2423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Dashboards with surveillance KPIs for agriculture officials.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Methodology: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D6B63"/>
                </a:solidFill>
                <a:latin typeface="Calibri"/>
              </a:rPr>
              <a:t>Three-tier web system: browser front-end → Flask server with six intelligence modules → data &amp; external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Farmer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scan · farms · traps · alerts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2331720"/>
            <a:ext cx="0" cy="22860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164592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Extension officer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validation · referral ·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44568" y="2331720"/>
            <a:ext cx="0" cy="22860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164592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Agriculture official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dashboard · KPIs · 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33488" y="2331720"/>
            <a:ext cx="0" cy="22860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5603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Chrome front-end: HTML5 · CSS3 · JavaScript · Jinja2 · Leaflet.js · Chart.js · Web Speech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017520"/>
            <a:ext cx="0" cy="22860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32461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1D2721"/>
                </a:solidFill>
                <a:latin typeface="Calibri"/>
              </a:rPr>
              <a:t>AI diagnosis</a:t>
            </a:r>
          </a:p>
          <a:p>
            <a:pPr algn="ctr"/>
            <a:r>
              <a:rPr sz="1000" b="0">
                <a:solidFill>
                  <a:srgbClr val="1D2721"/>
                </a:solidFill>
                <a:latin typeface="Calibri"/>
              </a:rPr>
              <a:t>MobileNetV2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088" y="32461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1D2721"/>
                </a:solidFill>
                <a:latin typeface="Calibri"/>
              </a:rPr>
              <a:t>Risk forecast</a:t>
            </a:r>
          </a:p>
          <a:p>
            <a:pPr algn="ctr"/>
            <a:r>
              <a:rPr sz="1000" b="0">
                <a:solidFill>
                  <a:srgbClr val="1D2721"/>
                </a:solidFill>
                <a:latin typeface="Calibri"/>
              </a:rPr>
              <a:t>weather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6976" y="32461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1D2721"/>
                </a:solidFill>
                <a:latin typeface="Calibri"/>
              </a:rPr>
              <a:t>Trap / IoT</a:t>
            </a:r>
          </a:p>
          <a:p>
            <a:pPr algn="ctr"/>
            <a:r>
              <a:rPr sz="1000" b="0">
                <a:solidFill>
                  <a:srgbClr val="1D2721"/>
                </a:solidFill>
                <a:latin typeface="Calibri"/>
              </a:rPr>
              <a:t>ETL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6864" y="32461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1D2721"/>
                </a:solidFill>
                <a:latin typeface="Calibri"/>
              </a:rPr>
              <a:t>Hotspots</a:t>
            </a:r>
          </a:p>
          <a:p>
            <a:pPr algn="ctr"/>
            <a:r>
              <a:rPr sz="1000" b="0">
                <a:solidFill>
                  <a:srgbClr val="1D2721"/>
                </a:solidFill>
                <a:latin typeface="Calibri"/>
              </a:rPr>
              <a:t>DBSCAN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32461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1D2721"/>
                </a:solidFill>
                <a:latin typeface="Calibri"/>
              </a:rPr>
              <a:t>IPM advisory</a:t>
            </a:r>
          </a:p>
          <a:p>
            <a:pPr algn="ctr"/>
            <a:r>
              <a:rPr sz="1000" b="0">
                <a:solidFill>
                  <a:srgbClr val="1D2721"/>
                </a:solidFill>
                <a:latin typeface="Calibri"/>
              </a:rPr>
              <a:t>6 languages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2461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1D2721"/>
                </a:solidFill>
                <a:latin typeface="Calibri"/>
              </a:rPr>
              <a:t>Validation &amp;</a:t>
            </a:r>
          </a:p>
          <a:p>
            <a:pPr algn="ctr"/>
            <a:r>
              <a:rPr sz="1000" b="0">
                <a:solidFill>
                  <a:srgbClr val="1D2721"/>
                </a:solidFill>
                <a:latin typeface="Calibri"/>
              </a:rPr>
              <a:t>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5875">
            <a:solidFill>
              <a:srgbClr val="7890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Flask (Python) · role-based auth · alert engine · follow-up scheduler · REST APIs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81328" y="4681728"/>
            <a:ext cx="0" cy="256032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937760"/>
            <a:ext cx="1965960" cy="8229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SQLite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database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4681728"/>
            <a:ext cx="0" cy="256032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542032" y="4937760"/>
            <a:ext cx="1965960" cy="8229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Model store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Keras heads v1..vN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50992" y="4681728"/>
            <a:ext cx="0" cy="256032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26864" y="4937760"/>
            <a:ext cx="1965960" cy="8229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Knowledge base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39 diseases · 7 pests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35824" y="4681728"/>
            <a:ext cx="0" cy="256032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11696" y="4937760"/>
            <a:ext cx="1965960" cy="8229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Open-Meteo · OSM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IoT 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45A32"/>
                </a:solidFill>
                <a:latin typeface="Calibri"/>
              </a:rPr>
              <a:t>Approach: combine computer vision (what the farmer sees) with agro-meteorological risk models (what is likely next) and human expert validation (trust).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Methodology: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3657600"/>
              </a:tblGrid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Front-end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HTML5, CSS3, JavaScript, Jinja2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Responsive pages that run in Chrome (desktop &amp; mobile)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Maps &amp;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Leaflet.js + OpenStreetMap, Leaflet.heat,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Hotspot map, heatmap, dashboards, weather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Back-end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Python 3.12, Flask 3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Routes, auth, REST APIs, alert &amp; follow-up engine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Deep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TensorFlow 2.18 / Keras, MobileNetV2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Leaf image classification (transfer learning)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ML utilities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scikit-learn, NumPy, Pillow, Matplotlib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DBSCAN hotspots, metrics, image quality, plots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Users, farms, reports, traps, sensors,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Weather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Open-Meteo forecast API (free)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Hourly temperature, humidity, rain for 10 days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Web Speech API (browser)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Read advisories aloud in the farmer's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721"/>
                          </a:solidFill>
                        </a:rPr>
                        <a:t>Hardware (sim.)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IoT weather station / smart trap via /api/sensor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721"/>
                          </a:solidFill>
                        </a:rPr>
                        <a:t>Sensor &amp; trap-count input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Methodology: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Image dataset:</a:t>
            </a:r>
            <a:r>
              <a:rPr sz="1300">
                <a:solidFill>
                  <a:srgbClr val="1D2721"/>
                </a:solidFill>
                <a:latin typeface="Calibri"/>
              </a:rPr>
              <a:t> PlantVillage (Mendeley Data, without augmentation) — 55,448 leaf images, 39 classes (38 crop/disease classes of 14 crops + background).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Split:</a:t>
            </a:r>
            <a:r>
              <a:rPr sz="1300">
                <a:solidFill>
                  <a:srgbClr val="1D2721"/>
                </a:solidFill>
                <a:latin typeface="Calibri"/>
              </a:rPr>
              <a:t> stratified 70 / 15 / 15 → 38,813 train, 8,317 validation, 8,318 test images.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Weather:</a:t>
            </a:r>
            <a:r>
              <a:rPr sz="1300">
                <a:solidFill>
                  <a:srgbClr val="1D2721"/>
                </a:solidFill>
                <a:latin typeface="Calibri"/>
              </a:rPr>
              <a:t> Open-Meteo hourly forecast (past 3 + next 7 days) for each farm's GPS location.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Knowledge base:</a:t>
            </a:r>
            <a:r>
              <a:rPr sz="1300">
                <a:solidFill>
                  <a:srgbClr val="1D2721"/>
                </a:solidFill>
                <a:latin typeface="Calibri"/>
              </a:rPr>
              <a:t> 39 disease and 7 pest profiles — pathogen, symptoms, IPM actions, doses, pre-harvest intervals, ETLs — compiled from IPM package-of-practice literature.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Field data:</a:t>
            </a:r>
            <a:r>
              <a:rPr sz="1300">
                <a:solidFill>
                  <a:srgbClr val="1D2721"/>
                </a:solidFill>
                <a:latin typeface="Calibri"/>
              </a:rPr>
              <a:t> farm profiles, trap counts, sensor readings and reports entered through the app. Demo database: 107 farms, 425 reports (synthetic, for evaluation).</a:t>
            </a:r>
          </a:p>
        </p:txBody>
      </p:sp>
      <p:pic>
        <p:nvPicPr>
          <p:cNvPr id="9" name="Picture 8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39900"/>
            <a:ext cx="3657600" cy="406400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Process: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1. Capture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leaf photo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82880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9696" y="137160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2. Quality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2736" y="182880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37160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3. AI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diagnosis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5231" y="182880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04688" y="137160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4. Risk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67728" y="182880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87184" y="137160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5. IPM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advisory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10. Dashboard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for officials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920240" y="329184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39696" y="28346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9. Continual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learning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602736" y="329184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22191" y="28346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8. Follow-up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3 / 7 days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285231" y="329184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04688" y="28346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7. Hotspot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alerts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967728" y="3291840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87184" y="28346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721"/>
                </a:solidFill>
                <a:latin typeface="Calibri"/>
              </a:rPr>
              <a:t>6. Expert</a:t>
            </a:r>
          </a:p>
          <a:p>
            <a:pPr algn="ctr"/>
            <a:r>
              <a:rPr sz="1200" b="0">
                <a:solidFill>
                  <a:srgbClr val="1D2721"/>
                </a:solidFill>
                <a:latin typeface="Calibri"/>
              </a:rPr>
              <a:t>validation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61504" y="2286000"/>
            <a:ext cx="0" cy="54864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40233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Farmer:</a:t>
            </a:r>
            <a:r>
              <a:rPr sz="1300">
                <a:solidFill>
                  <a:srgbClr val="1D2721"/>
                </a:solidFill>
                <a:latin typeface="Calibri"/>
              </a:rPr>
              <a:t> registers farm (GPS, crop, variety, sowing date, soil, irrigation) → gets daily risk alerts → scans a sick leaf → receives advice + audio.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System:</a:t>
            </a:r>
            <a:r>
              <a:rPr sz="1300">
                <a:solidFill>
                  <a:srgbClr val="1D2721"/>
                </a:solidFill>
                <a:latin typeface="Calibri"/>
              </a:rPr>
              <a:t> stores the image embedding, schedules a follow-up, refers to the nearest lab when confidence &lt; 60% or disease is notifiable/viral.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Officer:</a:t>
            </a:r>
            <a:r>
              <a:rPr sz="1300">
                <a:solidFill>
                  <a:srgbClr val="1D2721"/>
                </a:solidFill>
                <a:latin typeface="Calibri"/>
              </a:rPr>
              <a:t> confirms or corrects the diagnosis and sets severity → farmer notified → hotspots recomputed → confirmed image added to training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Process: AI Diagnosis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Leaf image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224×224×3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55648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9696" y="13258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MobileNetV2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(ImageNet, frozen)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2736" y="1755648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3258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1280-d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feature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5231" y="1755648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04688" y="13258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Dropout 0.3 →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Dense 256 ReLU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67728" y="1755648"/>
            <a:ext cx="219456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87184" y="13258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 w="15875">
            <a:solidFill>
              <a:srgbClr val="14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721"/>
                </a:solidFill>
                <a:latin typeface="Calibri"/>
              </a:rPr>
              <a:t>Softmax</a:t>
            </a:r>
          </a:p>
          <a:p>
            <a:pPr algn="ctr"/>
            <a:r>
              <a:rPr sz="1100" b="0">
                <a:solidFill>
                  <a:srgbClr val="1D2721"/>
                </a:solidFill>
                <a:latin typeface="Calibri"/>
              </a:rPr>
              <a:t>39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Transfer learning:</a:t>
            </a:r>
            <a:r>
              <a:rPr sz="1300">
                <a:solidFill>
                  <a:srgbClr val="1D2721"/>
                </a:solidFill>
                <a:latin typeface="Calibri"/>
              </a:rPr>
              <a:t> ImageNet-pretrained MobileNetV2 is used as a frozen feature extractor — light enough for a CPU-only laptop and mobile deployment.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Two-stage training:</a:t>
            </a:r>
            <a:r>
              <a:rPr sz="1300">
                <a:solidFill>
                  <a:srgbClr val="1D2721"/>
                </a:solidFill>
                <a:latin typeface="Calibri"/>
              </a:rPr>
              <a:t> features of all 55,448 images are computed once (~40 min on CPU); the classification head then trains in 274 s.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Imbalance:</a:t>
            </a:r>
            <a:r>
              <a:rPr sz="1300">
                <a:solidFill>
                  <a:srgbClr val="1D2721"/>
                </a:solidFill>
                <a:latin typeface="Calibri"/>
              </a:rPr>
              <a:t> balanced class weights (classes range from 152 to 5,507 images); early stopping on validation accuracy; learning-rate decay on plateau.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Crop-aware inference:</a:t>
            </a:r>
            <a:r>
              <a:rPr sz="1300">
                <a:solidFill>
                  <a:srgbClr val="1D2721"/>
                </a:solidFill>
                <a:latin typeface="Calibri"/>
              </a:rPr>
              <a:t> if the farmer selects the crop, probabilities are re-normalised over that crop's classes; a strong mismatch is flagged.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Image quality gate:</a:t>
            </a:r>
            <a:r>
              <a:rPr sz="1300">
                <a:solidFill>
                  <a:srgbClr val="1D2721"/>
                </a:solidFill>
                <a:latin typeface="Calibri"/>
              </a:rPr>
              <a:t> Laplacian-variance blur check and exposure check ask the farmer to retake poor photos.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Continual learning:</a:t>
            </a:r>
            <a:r>
              <a:rPr sz="1300">
                <a:solidFill>
                  <a:srgbClr val="1D2721"/>
                </a:solidFill>
                <a:latin typeface="Calibri"/>
              </a:rPr>
              <a:t> each expert-confirmed image's embedding is stored; retraining fine-tunes the head (field samples ×5) and activates the new version only if held-out test accuracy does not drop &gt; 0.5 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Process: Risk, Hotspots &amp; Advisory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7955279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45A32"/>
                </a:solidFill>
                <a:latin typeface="Calibri"/>
              </a:rPr>
              <a:t>Risk score = 85 × weather favourability × crop-stage factor × variety resistance × drainage/irrigation factor</a:t>
            </a:r>
          </a:p>
          <a:p>
            <a:pPr algn="l"/>
            <a:r>
              <a:rPr sz="1200" b="1">
                <a:solidFill>
                  <a:srgbClr val="145A32"/>
                </a:solidFill>
                <a:latin typeface="Calibri"/>
              </a:rPr>
              <a:t>                   + 6 × confirmed cases within 10 km in 21 days (max +25)  →  Low / Moderate / High / Severe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Weather models:</a:t>
            </a:r>
            <a:r>
              <a:rPr sz="1300">
                <a:solidFill>
                  <a:srgbClr val="1D2721"/>
                </a:solidFill>
                <a:latin typeface="Calibri"/>
              </a:rPr>
              <a:t> 12 disease models, e.g. late blight — Hutton criteria (Tmin ≥ 10 °C and ≥ 6 h RH ≥ 90%); apple scab — Mills wet-hour table; spider mites — hot &amp; dry spells.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Crop factors:</a:t>
            </a:r>
            <a:r>
              <a:rPr sz="1300">
                <a:solidFill>
                  <a:srgbClr val="1D2721"/>
                </a:solidFill>
                <a:latin typeface="Calibri"/>
              </a:rPr>
              <a:t> seedling 0.85 · vegetative 1.0 · flowering 1.15 · maturity 0.75; resistant variety 0.5, moderately resistant 0.75; poor drainage ×1.15, sprinkler ×1.1.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Pest traps &amp; sensors:</a:t>
            </a:r>
            <a:r>
              <a:rPr sz="1300">
                <a:solidFill>
                  <a:srgbClr val="1D2721"/>
                </a:solidFill>
                <a:latin typeface="Calibri"/>
              </a:rPr>
              <a:t> counts normalised per trap per day/week and compared with ETL (e.g. pink bollworm 8 moths/trap/night, BPH 10/hill); IoT leaf-wetness raises humid-disease risk.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Hotspots:</a:t>
            </a:r>
            <a:r>
              <a:rPr sz="1300">
                <a:solidFill>
                  <a:srgbClr val="1D2721"/>
                </a:solidFill>
                <a:latin typeface="Calibri"/>
              </a:rPr>
              <a:t> DBSCAN with haversine distance (eps 5 km, ≥ 3 cases, last 30 days) per disease; farms of the same crop within radius + 5 km are alerted.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45A32"/>
                </a:solidFill>
                <a:latin typeface="Calibri"/>
              </a:rPr>
              <a:t>•  IPM advisory:</a:t>
            </a:r>
            <a:r>
              <a:rPr sz="1300">
                <a:solidFill>
                  <a:srgbClr val="1D2721"/>
                </a:solidFill>
                <a:latin typeface="Calibri"/>
              </a:rPr>
              <a:t> cultural → biological → chemical (last resort, dose + pre-harvest interval) → safety → referral → follow-up; composed from 47 translated action phrases.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Process: Challenges &amp; Adaptations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017520" cy="713232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8346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Calibri"/>
              </a:rPr>
              <a:t>No GPU available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1682496"/>
            <a:ext cx="274320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0480" y="132588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325880"/>
            <a:ext cx="46634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Frozen-backbone feature caching: one-time CPU feature extraction, then seconds-long head training and retraining.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3017520" cy="713232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28346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Calibri"/>
              </a:rPr>
              <a:t>Class imbalance (152–5,507 images)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2505456"/>
            <a:ext cx="274320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214884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148840"/>
            <a:ext cx="46634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Balanced class weights and per-class F1 reporting instead of accuracy alone.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3017520" cy="713232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71800"/>
            <a:ext cx="28346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Calibri"/>
              </a:rPr>
              <a:t>Lab images vs field photos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20440" y="3328416"/>
            <a:ext cx="274320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297180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971800"/>
            <a:ext cx="46634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Image-quality gate, crop-aware re-normalisation, low-confidence referral and expert validation loop.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3017520" cy="713232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28346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Calibri"/>
              </a:rPr>
              <a:t>Translating advice to 6 languages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20440" y="4151376"/>
            <a:ext cx="274320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40480" y="379476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3794760"/>
            <a:ext cx="46634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Phrase library of 47 IPM actions with templated doses — new diseases reuse translated phrases.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17720"/>
            <a:ext cx="3017520" cy="713232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28346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Calibri"/>
              </a:rPr>
              <a:t>Weather API may be offline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20440" y="4974336"/>
            <a:ext cx="274320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840480" y="461772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4617720"/>
            <a:ext cx="46634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Hourly caching + seasonal offline fallback clearly labelled in the UI.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40680"/>
            <a:ext cx="3017520" cy="713232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5875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28346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Calibri"/>
              </a:rPr>
              <a:t>Bad labels could harm the model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20440" y="5797296"/>
            <a:ext cx="274320" cy="0"/>
          </a:xfrm>
          <a:prstGeom prst="line">
            <a:avLst/>
          </a:prstGeom>
          <a:ln w="19050">
            <a:solidFill>
              <a:srgbClr val="5D6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840480" y="5440680"/>
            <a:ext cx="4846320" cy="713232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5440680"/>
            <a:ext cx="466344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D2721"/>
                </a:solidFill>
                <a:latin typeface="Calibri"/>
              </a:rPr>
              <a:t>New model versions are activated only if held-out accuracy does not drop.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Results: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145A32"/>
                </a:solidFill>
                <a:latin typeface="Calibri"/>
              </a:rPr>
              <a:t>97.01%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5D6B63"/>
                </a:solidFill>
                <a:latin typeface="Calibri"/>
              </a:rPr>
              <a:t>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28016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325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145A32"/>
                </a:solidFill>
                <a:latin typeface="Calibri"/>
              </a:rPr>
              <a:t>99.82%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874519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5D6B63"/>
                </a:solidFill>
                <a:latin typeface="Calibri"/>
              </a:rPr>
              <a:t>Top-3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128016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325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145A32"/>
                </a:solidFill>
                <a:latin typeface="Calibri"/>
              </a:rPr>
              <a:t>0.963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874519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5D6B63"/>
                </a:solidFill>
                <a:latin typeface="Calibri"/>
              </a:rPr>
              <a:t>Macro F1-score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1696" y="128016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1325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145A32"/>
                </a:solidFill>
                <a:latin typeface="Calibri"/>
              </a:rPr>
              <a:t>8,318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1874519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5D6B63"/>
                </a:solidFill>
                <a:latin typeface="Calibri"/>
              </a:rPr>
              <a:t>Unseen test images</a:t>
            </a:r>
          </a:p>
        </p:txBody>
      </p:sp>
      <p:pic>
        <p:nvPicPr>
          <p:cNvPr id="20" name="Picture 19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35135"/>
            <a:ext cx="5120640" cy="186205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720" y="2514600"/>
          <a:ext cx="2926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"/>
              </a:tblGrid>
              <a:tr h="350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Weakest classes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Tomato – Early blight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0.843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Maize – Gray leaf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0.857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Tomato – Target spot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0.867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Tomato – Mosaic virus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0.904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Tomato – Septoria leaf spot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2721"/>
                          </a:solidFill>
                        </a:rPr>
                        <a:t>0.915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84632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Validation curves track training curves closely — no over-fitting; early stopping after 52 epochs.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Most errors are between visually similar leaf-spot diseases of the same crop (e.g. maize gray leaf spot vs northern leaf blight).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Low-confidence predictions are routed to experts, so residual errors are caught before advice is finalised.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Results: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15212"/>
            <a:ext cx="5669280" cy="4913376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72200" y="1371600"/>
            <a:ext cx="2606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145A32"/>
                </a:solidFill>
                <a:latin typeface="Calibri"/>
              </a:rPr>
              <a:t>•  Strong diagonal:</a:t>
            </a:r>
            <a:r>
              <a:rPr sz="1200">
                <a:solidFill>
                  <a:srgbClr val="1D2721"/>
                </a:solidFill>
                <a:latin typeface="Calibri"/>
              </a:rPr>
              <a:t> almost every class is recognised correctly on unseen test images.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5A32"/>
                </a:solidFill>
                <a:latin typeface="Calibri"/>
              </a:rPr>
              <a:t>•  Background class:</a:t>
            </a:r>
            <a:r>
              <a:rPr sz="1200">
                <a:solidFill>
                  <a:srgbClr val="1D2721"/>
                </a:solidFill>
                <a:latin typeface="Calibri"/>
              </a:rPr>
              <a:t> non-leaf photos are detected and the farmer is asked to retake.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5A32"/>
                </a:solidFill>
                <a:latin typeface="Calibri"/>
              </a:rPr>
              <a:t>•  Confusions:</a:t>
            </a:r>
            <a:r>
              <a:rPr sz="1200">
                <a:solidFill>
                  <a:srgbClr val="1D2721"/>
                </a:solidFill>
                <a:latin typeface="Calibri"/>
              </a:rPr>
              <a:t> mainly within the same crop — the crop-aware mode and the top-3 list help the expert decide.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5A32"/>
                </a:solidFill>
                <a:latin typeface="Calibri"/>
              </a:rPr>
              <a:t>•  Benchmark:</a:t>
            </a:r>
            <a:r>
              <a:rPr sz="1200">
                <a:solidFill>
                  <a:srgbClr val="1D2721"/>
                </a:solidFill>
                <a:latin typeface="Calibri"/>
              </a:rPr>
              <a:t> Mohanty et al. (2016) reached 99.35% with fully fine-tuned GoogLeNet on PlantVillage; our frozen MobileNetV2 is far lighter and trains on a laptop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Results: Farmer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02_farmer_home.png"/>
          <p:cNvPicPr>
            <a:picLocks noChangeAspect="1"/>
          </p:cNvPicPr>
          <p:nvPr/>
        </p:nvPicPr>
        <p:blipFill>
          <a:blip r:embed="rId2"/>
          <a:srcRect b="30442"/>
          <a:stretch>
            <a:fillRect/>
          </a:stretch>
        </p:blipFill>
        <p:spPr>
          <a:xfrm>
            <a:off x="365760" y="1234440"/>
            <a:ext cx="4114800" cy="292608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pic>
        <p:nvPicPr>
          <p:cNvPr id="9" name="Picture 8" descr="05_report.png"/>
          <p:cNvPicPr>
            <a:picLocks noChangeAspect="1"/>
          </p:cNvPicPr>
          <p:nvPr/>
        </p:nvPicPr>
        <p:blipFill>
          <a:blip r:embed="rId3"/>
          <a:srcRect b="31636"/>
          <a:stretch>
            <a:fillRect/>
          </a:stretch>
        </p:blipFill>
        <p:spPr>
          <a:xfrm>
            <a:off x="4663440" y="1234440"/>
            <a:ext cx="4114800" cy="292608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4187952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D6B63"/>
                </a:solidFill>
                <a:latin typeface="Calibri"/>
              </a:rPr>
              <a:t>Farmer home: 7-day risk per farm, live weather,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87952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D6B63"/>
                </a:solidFill>
                <a:latin typeface="Calibri"/>
              </a:rPr>
              <a:t>Diagnosis: top-3 predictions, weather link, IPM advisory</a:t>
            </a:r>
          </a:p>
        </p:txBody>
      </p:sp>
      <p:pic>
        <p:nvPicPr>
          <p:cNvPr id="12" name="Picture 11" descr="06_report_kannada.png"/>
          <p:cNvPicPr>
            <a:picLocks noChangeAspect="1"/>
          </p:cNvPicPr>
          <p:nvPr/>
        </p:nvPicPr>
        <p:blipFill>
          <a:blip r:embed="rId4"/>
          <a:srcRect b="40369"/>
          <a:stretch>
            <a:fillRect/>
          </a:stretch>
        </p:blipFill>
        <p:spPr>
          <a:xfrm>
            <a:off x="365760" y="4526280"/>
            <a:ext cx="2743200" cy="178308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pic>
        <p:nvPicPr>
          <p:cNvPr id="13" name="Picture 12" descr="07_advisory_tamil.png"/>
          <p:cNvPicPr>
            <a:picLocks noChangeAspect="1"/>
          </p:cNvPicPr>
          <p:nvPr/>
        </p:nvPicPr>
        <p:blipFill>
          <a:blip r:embed="rId5"/>
          <a:srcRect b="20582"/>
          <a:stretch>
            <a:fillRect/>
          </a:stretch>
        </p:blipFill>
        <p:spPr>
          <a:xfrm>
            <a:off x="3246120" y="4526280"/>
            <a:ext cx="2743200" cy="178308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pic>
        <p:nvPicPr>
          <p:cNvPr id="14" name="Picture 13" descr="03_farm_risk.png"/>
          <p:cNvPicPr>
            <a:picLocks noChangeAspect="1"/>
          </p:cNvPicPr>
          <p:nvPr/>
        </p:nvPicPr>
        <p:blipFill>
          <a:blip r:embed="rId6"/>
          <a:srcRect b="66064"/>
          <a:stretch>
            <a:fillRect/>
          </a:stretch>
        </p:blipFill>
        <p:spPr>
          <a:xfrm>
            <a:off x="6126480" y="4526280"/>
            <a:ext cx="2651760" cy="178308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Results: Officer &amp; Official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12_dashboard.png"/>
          <p:cNvPicPr>
            <a:picLocks noChangeAspect="1"/>
          </p:cNvPicPr>
          <p:nvPr/>
        </p:nvPicPr>
        <p:blipFill>
          <a:blip r:embed="rId2"/>
          <a:srcRect b="36290"/>
          <a:stretch>
            <a:fillRect/>
          </a:stretch>
        </p:blipFill>
        <p:spPr>
          <a:xfrm>
            <a:off x="365760" y="1234440"/>
            <a:ext cx="4114800" cy="301752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pic>
        <p:nvPicPr>
          <p:cNvPr id="9" name="Picture 8" descr="11_map.png"/>
          <p:cNvPicPr>
            <a:picLocks noChangeAspect="1"/>
          </p:cNvPicPr>
          <p:nvPr/>
        </p:nvPicPr>
        <p:blipFill>
          <a:blip r:embed="rId3"/>
          <a:srcRect l="12155" r="12155"/>
          <a:stretch>
            <a:fillRect/>
          </a:stretch>
        </p:blipFill>
        <p:spPr>
          <a:xfrm>
            <a:off x="4663440" y="1234440"/>
            <a:ext cx="4114800" cy="3017520"/>
          </a:xfrm>
          <a:prstGeom prst="rect">
            <a:avLst/>
          </a:prstGeom>
          <a:ln w="9525">
            <a:solidFill>
              <a:srgbClr val="DDE5D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4279392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D6B63"/>
                </a:solidFill>
                <a:latin typeface="Calibri"/>
              </a:rPr>
              <a:t>Surveillance dashboard (KPIs &amp; charts)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79392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D6B63"/>
                </a:solidFill>
                <a:latin typeface="Calibri"/>
              </a:rPr>
              <a:t>Hotspot map: DBSCAN clusters + heatmap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091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145A32"/>
                </a:solidFill>
                <a:latin typeface="Calibri"/>
              </a:rPr>
              <a:t>95.0%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5D6B63"/>
                </a:solidFill>
                <a:latin typeface="Calibri"/>
              </a:rPr>
              <a:t>AI–expert agreement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47091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475488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145A32"/>
                </a:solidFill>
                <a:latin typeface="Calibri"/>
              </a:rPr>
              <a:t>20.3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5D6B63"/>
                </a:solidFill>
                <a:latin typeface="Calibri"/>
              </a:rPr>
              <a:t>avg. validation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47091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475488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145A32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5D6B63"/>
                </a:solidFill>
                <a:latin typeface="Calibri"/>
              </a:rPr>
              <a:t>hotspots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3" y="47091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3" y="4754880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>
                <a:solidFill>
                  <a:srgbClr val="145A32"/>
                </a:solidFill>
                <a:latin typeface="Calibri"/>
              </a:rPr>
              <a:t>37.4%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5D6B63"/>
                </a:solidFill>
                <a:latin typeface="Calibri"/>
              </a:rPr>
              <a:t>cases managed without chemicals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0720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B63"/>
                </a:solidFill>
                <a:latin typeface="Calibri"/>
              </a:rPr>
              <a:t>Measured on the demo database (425 reports over 90 days; AI predictions are real model outputs on held-out validation images, field context is simulated).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Results: Comparison with Existing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45920"/>
                <a:gridCol w="1645920"/>
                <a:gridCol w="210312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Manual extension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Photo-ID apps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KrishiRakshak</a:t>
                      </a:r>
                    </a:p>
                  </a:txBody>
                  <a:tcPr>
                    <a:solidFill>
                      <a:srgbClr val="145A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Image-based diagnosis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 (visit needed)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38 classes + top-3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Weather risk forecast per farm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 / 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12 models, 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Crop stage / variety / soil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partly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Pest traps &amp; IoT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ETL alerts +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Hotspot mapping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DBSCAN + heatmap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Expert validation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✓ (slow)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rare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prioritised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Learns from field confirmations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versioned retraining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Multilingual + audio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partly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partly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6 languages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Officials' dashboard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721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5A32"/>
                          </a:solidFill>
                        </a:rPr>
                        <a:t>✓ KPIs &amp; charts</a:t>
                      </a:r>
                    </a:p>
                  </a:txBody>
                  <a:tcPr>
                    <a:solidFill>
                      <a:srgbClr val="E3F2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45A32"/>
                </a:solidFill>
                <a:latin typeface="Calibri"/>
              </a:rPr>
              <a:t>Interpretation of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A lightweight CNN reaches 97.01% accuracy — enough for a first-line screening tool.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Combining the photo diagnosis with weather risk tells the farmer not only what the problem is but how urgent it is.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The expert loop turns AI into a decision-support tool, not a replacement for extension staff.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IPM ordering and severity-based chemical advice support more targeted pesticide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65100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PlantVillage images are lab photos on plain backgrounds; accuracy on real field photos will be lower until field data is collected.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Only 14 crops / 38 classes; major Indian crops like rice, cotton and chilli need their own image data.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Weather rules are simplified and not yet calibrated with local outbreak records.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Demo field data is synthetic; IoT devices are simulated.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Needs internet for live weather and map tiles.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45A32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Collect field images for rice, cotton, chilli, pulses; fine-tune the full network.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Offline Android app with on-device TensorFlow Lite model.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SMS / WhatsApp / IVR voice alerts for farmers without smartphones.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Calibrate risk models with state pest-surveillance data; add soil-health cards.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Real LoRa/GSM smart traps with automatic insect counting.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721"/>
                </a:solidFill>
                <a:latin typeface="Calibri"/>
              </a:rPr>
              <a:t>•  Satellite (NDVI) crop-stress layers on the hotspot 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4937760"/>
          </a:xfrm>
          <a:prstGeom prst="roundRect">
            <a:avLst>
              <a:gd name="adj" fmla="val 12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45A32"/>
                </a:solidFill>
                <a:latin typeface="Calibri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KrishiRakshak delivers a complete crop-health system that runs in Chrome: image-based diagnosis, weather-based risk forecasting, pest-trap and sensor monitoring, hotspot mapping, expert validation, multilingual IPM advice, follow-up and continual learning, with dashboards for officials.</a:t>
            </a:r>
          </a:p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D2721"/>
                </a:solidFill>
                <a:latin typeface="Calibri"/>
              </a:rPr>
              <a:t>It supports the expected outcomes of the problem statement: earlier detection, reduced crop loss, more targeted pesticide use, faster extension response, wider surveillance coverage and better planning of preventive interventions.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1D2721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7CB342"/>
                </a:solidFill>
                <a:latin typeface="Calibri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097280" cy="4572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D6B63"/>
                </a:solidFill>
                <a:latin typeface="Calibri"/>
              </a:rPr>
              <a:t>KrishiRakshak · Crop disease &amp; pest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D6B63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Hughes, D. P. &amp; Salathé, M. (2015). An open access repository of images on plant health (PlantVillage). arXiv:1511.08060.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Mohanty, S. P., Hughes, D. P. &amp; Salathé, M. (2016). Using deep learning for image-based plant disease detection. Frontiers in Plant Science, 7:1419.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Sandler, M. et al. (2018). MobileNetV2: Inverted residuals and linear bottlenecks. CVPR.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Ester, M. et al. (1996). A density-based algorithm for discovering clusters (DBSCAN). KDD.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Hutton criteria for potato late blight risk — AHDB / UK Met Office (2017).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Mills, W. D. (1944). Efficient use of sulfur dusts and sprays during rain to control apple scab. Cornell Ext. Bull. 630.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Open-Meteo weather forecast API — open-meteo.com.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D2721"/>
                </a:solidFill>
                <a:latin typeface="Calibri"/>
              </a:rPr>
              <a:t>•  FAO (2021). Scientific review of the impact of climate change on plant pests.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>
                <a:solidFill>
                  <a:srgbClr val="145A32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